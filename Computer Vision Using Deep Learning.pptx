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44e2c57ec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44e2c57ec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44e2c57ec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44e2c57ec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44e2c57ec2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44e2c57ec2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44e2c57ec2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44e2c57ec2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44e2c57ec2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44e2c57ec2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44e2c57ec2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44e2c57ec2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44e2c57ec2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44e2c57ec2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44e2c57ec2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44e2c57ec2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44e2c57ec2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44e2c57ec2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44e2c57ec2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44e2c57ec2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44e2c57ec2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44e2c57ec2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44e2c57ec2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44e2c57ec2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44e2c57ec2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44e2c57ec2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44e2c57ec2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44e2c57ec2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44e2c57ec2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44e2c57ec2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44e2c57ec2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44e2c57ec2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44e2c57ec2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44e2c57ec2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44e2c57ec2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44e2c57ec2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44e2c57ec2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44e2c57ec2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44e2c57ec2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44e2c57ec2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44e2c57ec2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44e2c57ec2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44e2c57ec2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44e2c57ec2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44e2c57ec2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44e2c57ec2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44e2c57ec2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44e2c57ec2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4464ba17c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4464ba17c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4464ba17c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4464ba17c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44e2c57ec2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44e2c57ec2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44e2c57ec2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44e2c57ec2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en.wikipedia.org/wiki/David_Rumelhart" TargetMode="External"/><Relationship Id="rId4" Type="http://schemas.openxmlformats.org/officeDocument/2006/relationships/hyperlink" Target="http://www.cs.toronto.edu/~hinton/" TargetMode="External"/><Relationship Id="rId5" Type="http://schemas.openxmlformats.org/officeDocument/2006/relationships/hyperlink" Target="http://en.wikipedia.org/wiki/Ronald_J._Williams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://drive.google.com/file/d/1Tx6kbb9SQ0iSQiaAEcf4_L52OALqb3yR/view" TargetMode="External"/><Relationship Id="rId4" Type="http://schemas.openxmlformats.org/officeDocument/2006/relationships/image" Target="../media/image4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://drive.google.com/file/d/1Kntr62-_tDI6rtBWC_7MO6L9ekmPP7D3/view" TargetMode="External"/><Relationship Id="rId4" Type="http://schemas.openxmlformats.org/officeDocument/2006/relationships/image" Target="../media/image6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towardsdatascience.com/perceptron-learning-algorithm-d5db0deab975" TargetMode="External"/><Relationship Id="rId4" Type="http://schemas.openxmlformats.org/officeDocument/2006/relationships/hyperlink" Target="http://neuralnetworksanddeeplearning.com/chap1.html" TargetMode="External"/><Relationship Id="rId5" Type="http://schemas.openxmlformats.org/officeDocument/2006/relationships/hyperlink" Target="https://medium.com/@RaghavPrabhu/cnn-architectures-lenet-alexnet-vgg-googlenet-and-resnet-7c81c017b848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Computer Vision Using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Deep Learning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4864300" y="3750250"/>
            <a:ext cx="3968100" cy="9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Human vs Machine Perception of an Image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5975" y="1360575"/>
            <a:ext cx="6667500" cy="318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Computer Vision??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Reinventing the human eye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Process of extracting information from images/videos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be classified into low level and high level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Low Level Computer Vision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Image Sharpening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Edge Detection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Background Subtraction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Contour Detection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 Level Computer Vision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Image Detection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Image Recognition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Image Segmentation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Deep Learning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87" name="Google Shape;8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8225" y="1213325"/>
            <a:ext cx="4919449" cy="3355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a GPU?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94" name="Google Shape;9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4075" y="1450725"/>
            <a:ext cx="4489276" cy="322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neural Networks???</a:t>
            </a:r>
            <a:endParaRPr/>
          </a:p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Biological Neural Network</a:t>
            </a:r>
            <a:endParaRPr/>
          </a:p>
          <a:p>
            <a:pPr indent="0" lvl="0" marL="457200" rtl="0" algn="l">
              <a:lnSpc>
                <a:spcPct val="2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2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01" name="Google Shape;10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2475" y="1891500"/>
            <a:ext cx="5781675" cy="256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Perceptron</a:t>
            </a:r>
            <a:endParaRPr/>
          </a:p>
        </p:txBody>
      </p:sp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3500" y="1336675"/>
            <a:ext cx="6477000" cy="30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Perceptron Learning Algorithm</a:t>
            </a:r>
            <a:endParaRPr/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1152475"/>
            <a:ext cx="8520600" cy="28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15" name="Google Shape;11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8520600" cy="2763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ANNs</a:t>
            </a:r>
            <a:endParaRPr/>
          </a:p>
        </p:txBody>
      </p:sp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22" name="Google Shape;12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675" y="1152475"/>
            <a:ext cx="8600650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BackProp Algorithm</a:t>
            </a:r>
            <a:endParaRPr/>
          </a:p>
        </p:txBody>
      </p:sp>
      <p:sp>
        <p:nvSpPr>
          <p:cNvPr id="128" name="Google Shape;128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Proposed by </a:t>
            </a:r>
            <a:r>
              <a:rPr lang="en" sz="1500">
                <a:solidFill>
                  <a:srgbClr val="333333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" sz="1500">
                <a:solidFill>
                  <a:srgbClr val="2A6EA6"/>
                </a:solidFill>
                <a:highlight>
                  <a:srgbClr val="FFFFFF"/>
                </a:highlight>
                <a:uFill>
                  <a:noFill/>
                </a:uFill>
                <a:hlinkClick r:id="rId3"/>
              </a:rPr>
              <a:t>David Rumelhart</a:t>
            </a:r>
            <a:r>
              <a:rPr lang="en" sz="1500">
                <a:solidFill>
                  <a:srgbClr val="333333"/>
                </a:solidFill>
                <a:highlight>
                  <a:srgbClr val="FFFFFF"/>
                </a:highlight>
              </a:rPr>
              <a:t>, </a:t>
            </a:r>
            <a:r>
              <a:rPr lang="en" sz="1500">
                <a:solidFill>
                  <a:srgbClr val="2A6EA6"/>
                </a:solidFill>
                <a:highlight>
                  <a:srgbClr val="FFFFFF"/>
                </a:highlight>
                <a:uFill>
                  <a:noFill/>
                </a:uFill>
                <a:hlinkClick r:id="rId4"/>
              </a:rPr>
              <a:t>Geoffrey Hinton</a:t>
            </a:r>
            <a:r>
              <a:rPr lang="en" sz="1500">
                <a:solidFill>
                  <a:srgbClr val="333333"/>
                </a:solidFill>
                <a:highlight>
                  <a:srgbClr val="FFFFFF"/>
                </a:highlight>
              </a:rPr>
              <a:t>, and </a:t>
            </a:r>
            <a:r>
              <a:rPr lang="en" sz="1500">
                <a:solidFill>
                  <a:srgbClr val="2A6EA6"/>
                </a:solidFill>
                <a:highlight>
                  <a:srgbClr val="FFFFFF"/>
                </a:highlight>
                <a:uFill>
                  <a:noFill/>
                </a:uFill>
                <a:hlinkClick r:id="rId5"/>
              </a:rPr>
              <a:t>Ronald Williams</a:t>
            </a:r>
            <a:r>
              <a:rPr lang="en" sz="1500">
                <a:solidFill>
                  <a:srgbClr val="333333"/>
                </a:solidFill>
                <a:highlight>
                  <a:srgbClr val="FFFFFF"/>
                </a:highlight>
              </a:rPr>
              <a:t>.</a:t>
            </a:r>
            <a:endParaRPr sz="15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Char char="●"/>
            </a:pPr>
            <a:r>
              <a:rPr lang="en" sz="1500">
                <a:solidFill>
                  <a:srgbClr val="333333"/>
                </a:solidFill>
                <a:highlight>
                  <a:srgbClr val="FFFFFF"/>
                </a:highlight>
              </a:rPr>
              <a:t>Consists of following steps:</a:t>
            </a:r>
            <a:endParaRPr sz="15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33333"/>
                </a:solidFill>
                <a:highlight>
                  <a:srgbClr val="FFFFFF"/>
                </a:highlight>
              </a:rPr>
              <a:t>Random Weight Initialization</a:t>
            </a:r>
            <a:endParaRPr sz="15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33333"/>
                </a:solidFill>
                <a:highlight>
                  <a:srgbClr val="FFFFFF"/>
                </a:highlight>
              </a:rPr>
              <a:t>Forward Pass</a:t>
            </a:r>
            <a:endParaRPr sz="15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33333"/>
                </a:solidFill>
                <a:highlight>
                  <a:srgbClr val="FFFFFF"/>
                </a:highlight>
              </a:rPr>
              <a:t>Backward Pass </a:t>
            </a:r>
            <a:endParaRPr sz="15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33333"/>
                </a:solidFill>
                <a:highlight>
                  <a:srgbClr val="FFFFFF"/>
                </a:highlight>
              </a:rPr>
              <a:t>                 </a:t>
            </a:r>
            <a:endParaRPr sz="15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500">
                <a:solidFill>
                  <a:srgbClr val="333333"/>
                </a:solidFill>
                <a:highlight>
                  <a:srgbClr val="FFFFFF"/>
                </a:highlight>
              </a:rPr>
              <a:t>    </a:t>
            </a:r>
            <a:endParaRPr sz="1500">
              <a:solidFill>
                <a:srgbClr val="333333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BackProp Algorithm</a:t>
            </a:r>
            <a:endParaRPr/>
          </a:p>
        </p:txBody>
      </p:sp>
      <p:sp>
        <p:nvSpPr>
          <p:cNvPr id="134" name="Google Shape;134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35" name="Google Shape;13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42" name="Google Shape;14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0950" y="1152475"/>
            <a:ext cx="5967325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Hyperparameter optimization</a:t>
            </a:r>
            <a:endParaRPr/>
          </a:p>
        </p:txBody>
      </p:sp>
      <p:sp>
        <p:nvSpPr>
          <p:cNvPr id="148" name="Google Shape;148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Learning Rate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Regularization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Selection of Activation Function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DropOut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Selecting Appropriate Cost Function And Optimizer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Batch Normalization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ConvNets</a:t>
            </a:r>
            <a:endParaRPr/>
          </a:p>
        </p:txBody>
      </p:sp>
      <p:sp>
        <p:nvSpPr>
          <p:cNvPr id="154" name="Google Shape;154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Why CNNs?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Convolution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Pooling Mechanism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Fully Connected Layers</a:t>
            </a:r>
            <a:endParaRPr/>
          </a:p>
        </p:txBody>
      </p:sp>
      <p:pic>
        <p:nvPicPr>
          <p:cNvPr id="155" name="Google Shape;15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6350" y="1292550"/>
            <a:ext cx="3884000" cy="270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ConvNets</a:t>
            </a:r>
            <a:endParaRPr/>
          </a:p>
        </p:txBody>
      </p:sp>
      <p:sp>
        <p:nvSpPr>
          <p:cNvPr id="161" name="Google Shape;161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Basic Architecture</a:t>
            </a:r>
            <a:endParaRPr/>
          </a:p>
        </p:txBody>
      </p:sp>
      <p:pic>
        <p:nvPicPr>
          <p:cNvPr id="162" name="Google Shape;16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8700" y="2018522"/>
            <a:ext cx="7086600" cy="271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ConvNets</a:t>
            </a:r>
            <a:endParaRPr/>
          </a:p>
        </p:txBody>
      </p:sp>
      <p:sp>
        <p:nvSpPr>
          <p:cNvPr id="168" name="Google Shape;168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Feature Map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69" name="Google Shape;16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7275" y="1689750"/>
            <a:ext cx="7143750" cy="316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Flavours of ConvNets</a:t>
            </a:r>
            <a:endParaRPr/>
          </a:p>
        </p:txBody>
      </p:sp>
      <p:sp>
        <p:nvSpPr>
          <p:cNvPr id="175" name="Google Shape;175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Lenet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AlexNet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VGG Net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Inception Nets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ResNets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Lenet-5</a:t>
            </a:r>
            <a:endParaRPr/>
          </a:p>
        </p:txBody>
      </p:sp>
      <p:sp>
        <p:nvSpPr>
          <p:cNvPr id="181" name="Google Shape;181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82" name="Google Shape;18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850" y="1492663"/>
            <a:ext cx="8172450" cy="288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AlexNet</a:t>
            </a:r>
            <a:endParaRPr/>
          </a:p>
        </p:txBody>
      </p:sp>
      <p:sp>
        <p:nvSpPr>
          <p:cNvPr id="188" name="Google Shape;188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89" name="Google Shape;18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7388" y="1155700"/>
            <a:ext cx="7324725" cy="340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VGG Net</a:t>
            </a:r>
            <a:endParaRPr/>
          </a:p>
        </p:txBody>
      </p:sp>
      <p:sp>
        <p:nvSpPr>
          <p:cNvPr id="195" name="Google Shape;195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96" name="Google Shape;19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3375" y="1345679"/>
            <a:ext cx="6924675" cy="284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Inception Net</a:t>
            </a:r>
            <a:endParaRPr/>
          </a:p>
        </p:txBody>
      </p:sp>
      <p:sp>
        <p:nvSpPr>
          <p:cNvPr id="202" name="Google Shape;202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03" name="Google Shape;20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7575"/>
            <a:ext cx="8578599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ResNets</a:t>
            </a:r>
            <a:endParaRPr/>
          </a:p>
        </p:txBody>
      </p:sp>
      <p:sp>
        <p:nvSpPr>
          <p:cNvPr id="209" name="Google Shape;209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10" name="Google Shape;21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9175" y="1808950"/>
            <a:ext cx="7105650" cy="238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Tools for Deep Learning</a:t>
            </a:r>
            <a:endParaRPr/>
          </a:p>
        </p:txBody>
      </p:sp>
      <p:sp>
        <p:nvSpPr>
          <p:cNvPr id="216" name="Google Shape;216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Theano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Caffe,Caffe2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Tensorflow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Mxnet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Keras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Cases</a:t>
            </a:r>
            <a:endParaRPr/>
          </a:p>
        </p:txBody>
      </p:sp>
      <p:sp>
        <p:nvSpPr>
          <p:cNvPr id="222" name="Google Shape;222;p38"/>
          <p:cNvSpPr txBox="1"/>
          <p:nvPr>
            <p:ph idx="1" type="body"/>
          </p:nvPr>
        </p:nvSpPr>
        <p:spPr>
          <a:xfrm>
            <a:off x="311700" y="1152475"/>
            <a:ext cx="8520600" cy="39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Face Recognition</a:t>
            </a:r>
            <a:endParaRPr/>
          </a:p>
        </p:txBody>
      </p:sp>
      <p:pic>
        <p:nvPicPr>
          <p:cNvPr id="223" name="Google Shape;223;p38" title="output.mp4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50800" y="1650250"/>
            <a:ext cx="5454050" cy="312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Cases</a:t>
            </a:r>
            <a:endParaRPr/>
          </a:p>
        </p:txBody>
      </p:sp>
      <p:sp>
        <p:nvSpPr>
          <p:cNvPr id="229" name="Google Shape;229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Person Tracking</a:t>
            </a:r>
            <a:endParaRPr/>
          </a:p>
        </p:txBody>
      </p:sp>
      <p:pic>
        <p:nvPicPr>
          <p:cNvPr id="230" name="Google Shape;230;p39" title="MOT_new.avi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6000" y="1146175"/>
            <a:ext cx="457200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 ???</a:t>
            </a:r>
            <a:endParaRPr/>
          </a:p>
        </p:txBody>
      </p:sp>
      <p:sp>
        <p:nvSpPr>
          <p:cNvPr id="236" name="Google Shape;236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242" name="Google Shape;242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https://towardsdatascience.com/perceptron-learning-algorithm-d5db0deab975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u="sng">
                <a:solidFill>
                  <a:schemeClr val="hlink"/>
                </a:solidFill>
                <a:hlinkClick r:id="rId4"/>
              </a:rPr>
              <a:t>http://neuralnetworksanddeeplearning.com/chap1.html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https://medium.com/@RaghavPrabhu/cnn-architectures-lenet-alexnet-vgg-googlenet-and-resnet-7c81c017b848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http://slazebni.cs.illinois.edu/spring17/lec01_cnn_architectures.pdf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